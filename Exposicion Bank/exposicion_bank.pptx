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3A5F"/>
                </a:solidFill>
                <a:latin typeface="Calibri"/>
              </a:defRPr>
            </a:pPr>
            <a:r>
              <a:t>Bank Marketing</a:t>
            </a:r>
          </a:p>
          <a:p>
            <a:pPr>
              <a:defRPr sz="2400" b="0">
                <a:solidFill>
                  <a:srgbClr val="555555"/>
                </a:solidFill>
                <a:latin typeface="Calibri"/>
              </a:defRPr>
            </a:pPr>
            <a:r>
              <a:t>Preparación del dataset paso a paso para la herramienta de clasificación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</a:defRPr>
            </a:pPr>
          </a:p>
          <a:p>
            <a:pPr>
              <a:defRPr sz="2000" b="0">
                <a:latin typeface="Calibri"/>
              </a:defRPr>
            </a:pPr>
            <a:r>
              <a:t>Sergio Duarte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Inteligencia Computacional. Maestría en Ciencias de la Información y las Comunicaciones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Universidad Distrital Francisco José de Caldas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El dataset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UCI Machine Learning Repository, Bank Marketing (Moro, Cortez y Rita, 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Campañas telefónicas de un banco portugués entre mayo de 2008 y noviembre de 2010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Objetivo. Predecir si el cliente suscribe un depósito a plazo (variable y)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45 211 registros, 16 atributos de entrada y la clase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Sin valores faltantes explícitos, pero varias categóricas usan la etiqueta unknown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Clase muy desbalanceada, 39 922 no frente a 5 289 sí (11.7 % de positivos)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Archivo bank-full.csv, separado por punto y coma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Plan de trabajo en cuatro pasos sobre el dato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T0 crudo, tal como viene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T1 arreglo de columnas, filas, faltantes y atípicos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T2 codificación y estandarización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T3 balanceo de clases, por submuestreo y por sobremuestreo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Variables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Tres grupos según la documentación original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46165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Grupo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Observación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18 a 95 años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12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incluye unknown (288), quedan 11 niveles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divorced agrupa divorciados y viudos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primary, secondary, tertiary, unknown (1 857)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default, housing, 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binarias yes/no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crédito en mora, hipoteca, préstamo personal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saldo medio anual en euros, cola muy larga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29 % de las filas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day,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 y categórica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fecha del último contacto sin año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segundos de la llamada, se conoce después de llamar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en esta campaña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días desde la campaña anterior, -1 si nunca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antes de esta campaña</a:t>
                      </a:r>
                    </a:p>
                  </a:txBody>
                  <a:tcPr/>
                </a:tc>
              </a:tr>
              <a:tr h="34617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4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82 % de las filas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Distribución de las numéricas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Histogramas de las siete variables numéricas y de la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0956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es la única con una distribución aproximadamente simétrica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balance, campaign y previous presentan colas muy pronunciadas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es casi toda -1 (82 % nunca contactados)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duration se concentra en llamadas cortas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day cubre todo el mes de forma casi uniforme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y desbalanceada, 7.5 no por cada sí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Diagramas de caja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Cada variable en su propia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142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 con valores hasta 102 127 y mínimo de -8 019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campaign con hasta 63 llamadas a un mismo cliente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previous con un caso de 275 contactos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y previous tienen rango intercuartil cero, la regla de Tukey no sirve ahí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muestra pocos atípicos, mayores de 70 años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Categóricas y valores unknown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El dataset no trae faltantes, pero unknown cumple ese papel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2790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146304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288 (0.6 %)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las filas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1 857 (4.1 %)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imputa con la moda del oficio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13 020 (28.8 %)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 como categoría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36 959 (81.7 %)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coincide con nunca contactado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384048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month muy concentrado en mayo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default casi constante, 1.8 % en mora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Las unknown de poutcome coinciden con las filas de previous igual a cero salvo cinco casos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Arreglo de columnas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Menos columnas y con significado, con intervención mínima sobre el dato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8006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Por qué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solo se conoce al terminar la llamada, es fuga de información hacia la clase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day y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unen en dia_anio (1 a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una sola columna numérica en vez de una numérica y una categórica de 12 niveles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 1, 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los niveles tienen orden natural, no hace falta one hot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moda dentro de cada 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oficio es el mejor indicio del nivel educativo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288 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 hay con qué imputar y son el 0.6 %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es cerca del 29 % del dato y tiene comportamiento propio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dos campos, ver siguiente lámina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-1 es un código de ausencia, no una cantidad de días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555"/>
                </a:solidFill>
                <a:latin typeface="Calibri"/>
              </a:defRPr>
            </a:pPr>
            <a:r>
              <a:t>Para dia_anio se usa un año no bisiesto de referencia porque el dataset no trae el año. Resultado 44 923 filas y 15 columnas de entrada.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pdays y el umbral de contacto previo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Tasa de sí según los días desde el último contacto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35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Nunca contactado responde sí el 9.2 % de las veces (línea roja)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Hasta 239 días la tasa se mantiene muy por encima de la base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Entre 240 y 364 días cae a 12 % y 8.6 %, ya se comporta como nunca contactado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Desde 365 días la tasa vuelve a subir a 27 %, pero son 691 filas (1.5 %) y se asumen bajo el mismo umbral para no abrir un tercer caso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Umbral elegido 240 días, unos ocho meses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contactado_antes vale 1 si pdays está entre 0 y 240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deja en 240 para el resto, así el -1 desaparece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Atípicos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Regla de 1.5 veces el rango intercuartil, recortando al borde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159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0" y="1463040"/>
          <a:ext cx="44805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/>
                <a:gridCol w="1493520"/>
                <a:gridCol w="1493520"/>
              </a:tblGrid>
              <a:tr h="352697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Fuera del rango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recorte al borde superior 70.5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4 712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recorte a -1 962 y 3 462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3 031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recorte a 6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recorte al percentil 99 (9)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ya acotada por el umbral</a:t>
                      </a:r>
                    </a:p>
                  </a:txBody>
                  <a:tcPr/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education,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sin atípicos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sin tratamiento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484632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latin typeface="Calibri"/>
              </a:defRPr>
            </a:pPr>
            <a:r>
              <a:t>• Se recorta al borde en vez de borrar filas para no perder varios miles de filas</a:t>
            </a:r>
          </a:p>
          <a:p>
            <a:pPr>
              <a:spcAft>
                <a:spcPts val="600"/>
              </a:spcAft>
              <a:defRPr sz="1400">
                <a:latin typeface="Calibri"/>
              </a:defRPr>
            </a:pPr>
            <a:r>
              <a:t>• Los 5 255 registros de la clase sí son escasos y eliminar filas los reduciría todavía más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Codificación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Todo queda numérico para la herramienta de clasificación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Método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binaria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default, housing, loan, contactado_antes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 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primary, 2 secondary, 3 tertiary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 sin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age, balance, campaign, pdays, previous,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poutcome_unknown se elimina por redundancia, se deduce de las otras tres indicadoras y marca a los nunca contactados, que ya identifica contactado_antes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De 15 columnas de entrada se pasa a 31, todas numéricas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Estandarización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Z score sobre age, balance, campaign, pdays, previous y dia_anio. Las indicadoras, contactado_antes y education se quedan como están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49300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usa z score, media cero y desviación uno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El panel derecho muestra el escalado a rango 0 a 1 solo para comparar, no se conserva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ve concentrada porque el 90 % de las filas vale 240 y el resto queda por debajo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previous sigue concentrada en cero, es la variable con menos información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T3. Balanceo por dos caminos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Submuestreo de la clase no (T3_1) y sobremuestreo sintético de la clase sí (T3_2)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35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T3_1. Se toman al azar 5 255 no para igualar a los 5 255 sí, quedan 10 510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T3_2. Se crean 34 413 sí sintéticos entre cada positivo y uno de sus cinco vecinos más cercanos, quedan 79 336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 T3_2 las indicadoras se redondean para que sigan valiendo 0 o 1 y education para que siga en 1, 2 o 3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No se duplican filas porque la copia y su original caen en particiones distintas y la prueba deja de ser independiente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 los sintéticos el riesgo baja pero no desaparece, la comparación entre T3_1 y T3_2 debe leerse con esa reserva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Semilla fija en los dos caminos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Categóricas y numéricas mezcladas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Efecto sobre la distancia en KNN y sobre el sobremuestreo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Tras T2 todo es numérico, las one hot y las binarias valen 0 o 1, education va de 1 a 3 y las seis numéricas están en z score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Dos clientes con distinto oficio difieren en dos columnas one hot, así que la distancia euclídea suma un salto fijo por cada categórica distinta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Con z score las numéricas pesan algo más que las indicadoras en la distancia, con rango 0 a 1 quedarían en la misma escala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KNN sirve, y si se quiere que cada columna pese igual conviene la distancia de Manhattan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Los árboles y los modelos de conjunto no dependen de la escala y manejan las indicadoras sin problema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En T3_2 se redondean las indicadoras y education para no crear clientes con valores intermedios en oficio, estado civil o nivel educativo, que no tienen interpretación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Resumen de las versiones del dato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Tablas que quedan en bank_pasos.mat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1828800"/>
                <a:gridCol w="1097280"/>
                <a:gridCol w="1097280"/>
                <a:gridCol w="466344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Paso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Columnas de entrada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Qué cambió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45 211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dato crudo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sin duration, dia_anio, education ordinal, pdays con umbral, atípicos recortados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one hot, binarias en 0 y 1, z score en las numéricas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10 510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submuestreo de la clase 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79 336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sobremuestreo sintético de la clase sí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Un solo live script, procesar_bank.mlx, genera las cinco versiones y las figuras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Cada tabla lleva la clase y como última columna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Ninguna versión modifica la clase ni elimina positivos reales, salvo las 34 filas con job unknown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Siguiente paso. Herramienta de clasificación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Qué se va a comparar en Classification Learner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Importar cada tabla desde el workspace con y como respuesta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Validación cruzada de 5 particiones en todas las pruebas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El escalado y el sobremuestreo se hicieron sobre todo el conjunto porque la partición se delega a la herramienta, así que las cifras de T3_2 salen algo optimistas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T2, T3_1 y T3_2 para ver el efecto de cada balanceo sobre la sensibilidad de la clase sí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Mirar la exactitud, pero sobre todo la matriz de confusión, porque con 88 % de la clase no la exactitud resulta poco informativa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Referencias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Moro, S., Cortez, P. y Rita, P. (2014). A data driven approach to predict the success of bank telemarketing. Decision Support Systems, 62, 22 a 31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Tukey, J. W. (1977). Exploratory Data Analysis. Addison Wesley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