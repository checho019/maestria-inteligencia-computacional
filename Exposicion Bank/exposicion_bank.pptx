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F3A5F"/>
                </a:solidFill>
                <a:latin typeface="Calibri"/>
              </a:defRPr>
            </a:pPr>
            <a:r>
              <a:t>Bank Marketing</a:t>
            </a:r>
          </a:p>
          <a:p>
            <a:pPr>
              <a:defRPr sz="2400" b="0">
                <a:solidFill>
                  <a:srgbClr val="555555"/>
                </a:solidFill>
                <a:latin typeface="Calibri"/>
              </a:defRPr>
            </a:pPr>
            <a:r>
              <a:t>Preparación del dataset paso a paso para la herramienta de clasificación</a:t>
            </a:r>
          </a:p>
          <a:p>
            <a:pPr>
              <a:defRPr sz="1200" b="0">
                <a:solidFill>
                  <a:srgbClr val="555555"/>
                </a:solidFill>
                <a:latin typeface="Calibri"/>
              </a:defRPr>
            </a:pPr>
          </a:p>
          <a:p>
            <a:pPr>
              <a:defRPr sz="2000" b="0">
                <a:latin typeface="Calibri"/>
              </a:defRPr>
            </a:pPr>
            <a:r>
              <a:t>Sergio Duarte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Inteligencia Computacional. Maestría en Ciencias de la Información y las Comunicaciones</a:t>
            </a:r>
          </a:p>
          <a:p>
            <a:pPr>
              <a:defRPr sz="1600" b="0">
                <a:solidFill>
                  <a:srgbClr val="555555"/>
                </a:solidFill>
                <a:latin typeface="Calibri"/>
              </a:defRPr>
            </a:pPr>
            <a:r>
              <a:t>Universidad Distrital Francisco José de Caldas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El dataset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UCI Machine Learning Repository, Bank Marketing (Moro, Cortez y Rita, 2014)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Campañas telefónicas de un banco portugués entre mayo de 2008 y noviembre de 2010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Objetivo. Predecir si el cliente suscribe un depósito a plazo (variable y)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45 211 registros, 16 atributos de entrada y la clase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Sin valores faltantes explícitos, pero varias categóricas usan la etiqueta unknown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Clase muy desbalanceada, 39 922 no frente a 5 289 sí (11.7 % de positivos)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Archivo bank-full.csv, separado por punto y coma</a:t>
            </a:r>
          </a:p>
          <a:p>
            <a:pPr>
              <a:spcAft>
                <a:spcPts val="600"/>
              </a:spcAft>
              <a:defRPr sz="1800">
                <a:latin typeface="Calibri"/>
              </a:defRPr>
            </a:pPr>
            <a:r>
              <a:t>• Plan de trabajo en cuatro versiones del dato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T0 crudo, tal como viene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T1 arreglo de columnas, filas, faltantes y atípicos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T2 codificación, estandarización y normalización</a:t>
            </a:r>
          </a:p>
          <a:p>
            <a:pPr lvl="1">
              <a:spcAft>
                <a:spcPts val="600"/>
              </a:spcAft>
              <a:defRPr sz="1600">
                <a:latin typeface="Calibri"/>
              </a:defRPr>
            </a:pPr>
            <a:r>
              <a:t>– T3 balanceo de clases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Variables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Tres grupos según la documentación original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46165"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Grupo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latin typeface="Calibri"/>
                        </a:defRPr>
                      </a:pPr>
                      <a:r>
                        <a:t>Observación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18 a 95 años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12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incluye unknown (288)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divorced agrupa divorciados y viudos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ordenable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primary, secondary, tertiary, unknown (1 857)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default, housing, loan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binarias yes/no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crédito en mora, hipoteca, préstamo personal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Cliente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saldo medio anual en euros, cola muy larga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3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29 % de las filas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day,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 y categórica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fecha del último contacto sin año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Último contacto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segundos de la llamada, se conoce después de llamar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en esta campaña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días desde la campaña anterior, -1 si nunca</a:t>
                      </a:r>
                    </a:p>
                  </a:txBody>
                  <a:tcPr/>
                </a:tc>
              </a:tr>
              <a:tr h="34616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contactos antes de esta campaña</a:t>
                      </a:r>
                    </a:p>
                  </a:txBody>
                  <a:tcPr/>
                </a:tc>
              </a:tr>
              <a:tr h="346175"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Campaña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categórica 4 niveles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alibri"/>
                        </a:defRPr>
                      </a:pPr>
                      <a:r>
                        <a:t>unknown en el 82 % de las filas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Distribución de las numéricas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Histogramas de las siete variables numéricas y de la clase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42767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es la única con forma razonable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balance, campaign y previous tienen colas larguísimas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es casi toda -1 (82 % nunca contactados)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duration se concentra en llamadas cortas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day cubre todo el mes, sin patrón claro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y desbalanceada, 7.5 no por cada sí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Diagramas de caja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Cada variable en su propia escala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863840" cy="51478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463040"/>
            <a:ext cx="33832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balance con valores hasta 102 127 y mínimo de -8 019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campaign con hasta 63 llamadas a un mismo cliente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previous con un caso de 275 contactos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pdays y previous tienen rango intercuartil cero, la regla de Tukey no sirve ahí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age muestra pocos atípicos, mayores de 70 años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T0. Categóricas y valores unknown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El dataset no trae faltantes, pero unknown cumple ese papel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949440" cy="4279032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680960" y="1463040"/>
          <a:ext cx="4206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2080"/>
                <a:gridCol w="1402080"/>
                <a:gridCol w="140208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288 (0.6 %)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las filas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1 857 (4.1 %)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imputa con la moda del oficio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13 020 (28.8 %)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 como categoría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36 959 (81.7 %)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coincide con nunca contactado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80960" y="3840480"/>
            <a:ext cx="4206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month muy concentrado en mayo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default casi constante, 1.8 % en mora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Las unknown de poutcome son exactamente las filas con previous igual a cero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Arreglo de columnas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Menos columnas y con significado, sin tocar mucho el dato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8006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Qué se hizo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Por qué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solo se conoce al terminar la llamada, es fuga de información hacia la clase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day y 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unen en dia_anio (1 a 365)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una sola columna numérica en vez de una numérica y una categórica de 12 niveles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 1, 2,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los niveles tienen orden natural, no hace falta one hot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moda dentro de cada 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oficio es el mejor indicio del nivel educativo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eliminan 288 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 hay con qué imputar y son el 0.6 %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se conserva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es un tercio del dato y tiene comportamiento propio</a:t>
                      </a:r>
                    </a:p>
                  </a:txBody>
                  <a:tcPr/>
                </a:tc>
              </a:tr>
              <a:tr h="4800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dos campos, ver siguiente lámina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el -1 no es un número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3093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555"/>
                </a:solidFill>
                <a:latin typeface="Calibri"/>
              </a:defRPr>
            </a:pPr>
            <a:r>
              <a:t>Para dia_anio se usa un año no bisiesto de referencia porque el dataset no trae el año. Resultado 44 923 filas y 15 columnas de entrada.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pdays y el umbral de contacto previo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Tasa de sí según los días desde el último contacto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3555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Nunca contactado responde sí el 9.2 % de las veces (línea roja)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Hasta 239 días la tasa se mantiene muy por encima de la base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Entre 240 y 364 días cae a 12 % y 8.6 %, ya se comporta como nunca contactado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Más de 365 días son 691 filas (1.5 %), se tratan igual bajo el mismo supuesto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Umbral elegido 240 días, unos ocho meses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contactado_antes vale 1 si pdays está entre 0 y 240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deja en 240 para el resto, así el -1 desaparece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T1. Atípicos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Regla de 1.5 veces el rango intercuartil, recortando al borde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386567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406640" y="1463040"/>
          <a:ext cx="4480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3520"/>
                <a:gridCol w="1493520"/>
                <a:gridCol w="149352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Fuera del rango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Tratamiento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 10.5 y 70.5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4 712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 -1 962 y 3 462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campaign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3 031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 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previous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recorte al percentil 99 (9)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IQR cero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ya acotada por el umbral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4023360"/>
            <a:ext cx="4480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recorta al borde en vez de borrar filas para no perder varios miles de filas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Los 5 255 sí son pocos y borrar filas los reduce aún más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Codificación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Todo queda numérico para la herramienta de clasificación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11480"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Método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alibri"/>
                        </a:defRPr>
                      </a:pPr>
                      <a:r>
                        <a:t>Columnas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binaria yes/no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default, housing, loan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0 y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ordinal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education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 primary, 2 secondary, 3 tertiary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job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marital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contact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nominal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poutcome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one hot sin 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numérica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age, balance, campaign, pdays, previous, dia_anio, contactado_antes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sin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poutcome_unknown se elimina porque equivale a previous igual a cero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De 15 columnas de entrada se pasa a 31, todas numéricas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T2. Estandarización y normalización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Solo sobre las siete columnas numéricas, las indicadoras se quedan en 0 y 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498079" cy="5090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46304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T2z con z score, media cero y desviación uno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T2n con escalado al rango 0 a 1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pdays se ve rara porque el 82 % vale 240 y el resto queda por debajo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previous sigue concentrada en cero, es la variable con menos información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guardan las dos versiones para comparar en la herramienta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T3. Balanceo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Submuestreo aleatorio de la clase 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6766560" cy="44268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toman al azar 5 255 no para igualar a los 5 255 sí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Quedan 10 510 filas, suficientes para entrenar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No se sobremuestrea porque inventar 34 000 filas sintéticas hace lento el entrenamiento y no agrega información real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Semilla fija para que la muestra sea reproducible</a:t>
            </a:r>
          </a:p>
          <a:p>
            <a:pPr>
              <a:spcAft>
                <a:spcPts val="600"/>
              </a:spcAft>
              <a:defRPr sz="1500">
                <a:latin typeface="Calibri"/>
              </a:defRPr>
            </a:pPr>
            <a:r>
              <a:t>• Se guarda T3z desde la estandarizada y T3n desde la normalizada, con las mismas filas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Resumen de las versiones del dato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Tablas que quedan en bank_pasos.mat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475488"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Paso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Filas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Columnas de entrada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Sí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alibri"/>
                        </a:defRPr>
                      </a:pPr>
                      <a:r>
                        <a:t>Qué cambió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45 211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39 922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dato crudo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sin duration, dia_anio, education ordinal, pdays con umbral, atípicos recortados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T2z y T2n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44 923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39 668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one hot, binarias en 0 y 1, z score o rango 0 a 1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T3z y T3n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10 510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5 255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alibri"/>
                        </a:defRPr>
                      </a:pPr>
                      <a:r>
                        <a:t>submuestreo de la clase no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2336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Un solo live script, procesar_bank.mlx, genera las cuatro versiones y las figuras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Cada tabla lleva la clase y como última columna</a:t>
            </a:r>
          </a:p>
          <a:p>
            <a:pPr>
              <a:spcAft>
                <a:spcPts val="600"/>
              </a:spcAft>
              <a:defRPr sz="1600">
                <a:latin typeface="Calibri"/>
              </a:defRPr>
            </a:pPr>
            <a:r>
              <a:t>• Ninguna versión modifica la clase ni elimina positivos, salvo las 34 filas con job unknown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  <a:latin typeface="Calibri"/>
              </a:defRPr>
            </a:pPr>
            <a:r>
              <a:t>Siguiente paso. Herramienta de clasificación</a:t>
            </a:r>
          </a:p>
          <a:p>
            <a:pPr>
              <a:defRPr sz="1600">
                <a:solidFill>
                  <a:srgbClr val="555555"/>
                </a:solidFill>
                <a:latin typeface="Calibri"/>
              </a:defRPr>
            </a:pPr>
            <a:r>
              <a:t>Qué se va a comparar en Classification Learner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3657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Importar cada tabla desde el workspace con y como respuesta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Validación cruzada de 5 particiones en todas las pruebas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Comparar T2z frente a T3z para ver el efecto del balanceo sobre la sensibilidad de la clase sí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Comparar T2z frente a T2n para ver si el escalado cambia algo según el modelo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Mirar la exactitud, pero sobre todo la matriz de confusión, porque con 88 % de no la exactitud engaña</a:t>
            </a:r>
          </a:p>
          <a:p>
            <a:pPr>
              <a:spcAft>
                <a:spcPts val="600"/>
              </a:spcAft>
              <a:defRPr sz="1700">
                <a:latin typeface="Calibri"/>
              </a:defRPr>
            </a:pPr>
            <a:r>
              <a:t>• Referencias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Moro, S., Cortez, P. y Rita, P. (2014). A data driven approach to predict the success of bank telemarketing. Decision Support Systems, 62, 22 a 31</a:t>
            </a:r>
          </a:p>
          <a:p>
            <a:pPr lvl="1">
              <a:spcAft>
                <a:spcPts val="600"/>
              </a:spcAft>
              <a:defRPr sz="1500">
                <a:latin typeface="Calibri"/>
              </a:defRPr>
            </a:pPr>
            <a:r>
              <a:t>– Tukey, J. W. (1977). Exploratory Data Analysis. Addison Wesley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