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3A5F"/>
                </a:solidFill>
                <a:latin typeface="Calibri"/>
              </a:defRPr>
            </a:pPr>
            <a:r>
              <a:t>Bank Marketing</a:t>
            </a:r>
          </a:p>
          <a:p>
            <a:pPr>
              <a:defRPr sz="2400" b="0">
                <a:solidFill>
                  <a:srgbClr val="555555"/>
                </a:solidFill>
                <a:latin typeface="Calibri"/>
              </a:defRPr>
            </a:pPr>
            <a:r>
              <a:t>Preparación del dataset paso a paso para la herramienta de clasificación</a:t>
            </a:r>
          </a:p>
          <a:p>
            <a:pPr>
              <a:defRPr sz="1200" b="0">
                <a:solidFill>
                  <a:srgbClr val="555555"/>
                </a:solidFill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Sergio Santiago Duarte Rojas</a:t>
            </a:r>
          </a:p>
          <a:p>
            <a:pPr>
              <a:defRPr sz="2000" b="0">
                <a:latin typeface="Calibri"/>
              </a:defRPr>
            </a:pPr>
            <a:r>
              <a:t>Andrea Quintero Villamizar</a:t>
            </a:r>
          </a:p>
          <a:p>
            <a:pPr>
              <a:defRPr sz="1600" b="0">
                <a:solidFill>
                  <a:srgbClr val="555555"/>
                </a:solidFill>
                <a:latin typeface="Calibri"/>
              </a:defRPr>
            </a:pPr>
            <a:r>
              <a:t>Inteligencia Computacional. Maestría en Ciencias de la Información y las Comunicaciones</a:t>
            </a:r>
          </a:p>
          <a:p>
            <a:pPr>
              <a:defRPr sz="1600" b="0">
                <a:solidFill>
                  <a:srgbClr val="555555"/>
                </a:solidFill>
                <a:latin typeface="Calibri"/>
              </a:defRPr>
            </a:pPr>
            <a:r>
              <a:t>Universidad Distrital Francisco José de Caldas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El dataset y el plan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UCI Machine Learning Repository, Bank Marketing (Moro, Cortez y Rita, 2014)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Campañas telefónicas de un banco portugués entre 2008 y 2010. Objetivo, predecir si el cliente suscribe un depósito a plazo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45 211 registros, 16 atributos de entrada y la clase y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Sin valores faltantes explícitos, pero job, education, contact y poutcome usan la etiqueta unknown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Clase muy desbalanceada, 39 922 no frente a 5 289 sí (11.7 % de positivos)</a:t>
            </a:r>
          </a:p>
          <a:p>
            <a:pPr>
              <a:spcAft>
                <a:spcPts val="600"/>
              </a:spcAft>
              <a:defRPr sz="1800">
                <a:latin typeface="Calibri"/>
              </a:defRPr>
            </a:pPr>
            <a:r>
              <a:t>• Cuatro versiones del dato, cada una probada en Classification Learner con validación cruzada de 5 particiones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T0 crudo, tal como viene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T1 arreglo de columnas, filas, faltantes y atípicos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T2 codificación y estandarización</a:t>
            </a:r>
          </a:p>
          <a:p>
            <a:pPr lvl="1">
              <a:spcAft>
                <a:spcPts val="600"/>
              </a:spcAft>
              <a:defRPr sz="1600">
                <a:latin typeface="Calibri"/>
              </a:defRPr>
            </a:pPr>
            <a:r>
              <a:t>– T3 balanceo, por submuestreo (T3_1) y por sobremuestreo (T3_2)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T0. Numéricas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Histogramas de las siete variables numéricas y de la clase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95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46304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age es la única con una distribución aproximadamente simétrica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balance, campaign y previous presentan colas muy pronunciadas, con valores hasta 102 127, 63 y 275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pdays es casi toda -1 (82 % nunca contactados)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duration se concentra en llamadas cortas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y desbalanceada, 7.5 no por cada 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T0. Categóricas y valores unknown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El dataset no trae faltantes, pero unknown cumple ese papel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42790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46304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Decisión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288 (0.6 %)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eliminan las filas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1 857 (4.1 %)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imputa con la moda del oficio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13 020 (28.8 %)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conserva como categoría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36 959 (81.7 %)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coincide con nunca contactado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402336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month muy concentrado en mayo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default casi constante, 1.8 % en mora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T1. Arreglo de columnas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Menos columnas y con significado, con intervención mínima sobre el dato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Columna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Tratamiento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Por qué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solo se conoce al terminar la llamada, es fuga de información hacia la clase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day y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unen en dia_anio (1 a 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una sola columna numérica en vez de una numérica y una categórica de 12 niveles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ordinal 1, 2,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los niveles tienen orden natural, no hace falta one hot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se eliminan 288 filas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 hay con qué imputar y son el 0.6 %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dos campos, ver siguiente lámina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el -1 es un código de ausencia, no una cantidad de días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age, balance,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atípicos recortados al borde de 1.5 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480, 4 712 y 3 031 valores, sin borrar filas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recorte al percentil 99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rango intercuartil cero, la regla de Tukey no aplica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Calibri"/>
              </a:defRPr>
            </a:pPr>
            <a:r>
              <a:t>Resultado 44 923 filas y 15 columnas de entrada.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T1. pdays y el umbral de contacto previo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Tasa de sí según los días desde el último contacto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4355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Nunca contactado responde sí el 9.2 % de las veces (línea roja)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Hasta 239 días la tasa se mantiene muy por encima de la base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Entre 240 y 364 días cae a 12 % y 8.6 %, ya se comporta como nunca contactado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Desde 365 días la tasa vuelve a subir a 27 %, pero son 691 filas (1.5 %) y se asumen bajo el mismo umbral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Umbral elegido 240 días. contactado_antes vale 1 si pdays está entre 0 y 240, y pdays se deja en 240 para el resto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T2. Codificación y estandarización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Todo queda numérico para la herramienta de clasificación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8912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Columnas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binaria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default, housing, loan, contactado_antes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 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 primary, 2 secondary, 3 tertiary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job, marital, contact, poutcome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one hot, sin poutcome_unknown por redundante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numérica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age, balance, campaign, pdays, previous, dia_anio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z score, media cero y desviación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De 15 columnas de entrada se pasa a 31, todas numéricas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Las indicadoras y education no se escalan, ya están en una escala corta y así se pueden redondear en el sobremuestreo</a:t>
            </a:r>
          </a:p>
          <a:p>
            <a:pPr>
              <a:spcAft>
                <a:spcPts val="600"/>
              </a:spcAft>
              <a:defRPr sz="1600">
                <a:latin typeface="Calibri"/>
              </a:defRPr>
            </a:pPr>
            <a:r>
              <a:t>• Con todo numérico KNN funciona, cada categórica distinta entre dos clientes suma un salto fijo a la distancia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T3. Balanceo por dos caminos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Submuestreo de la clase no (T3_1) y sobremuestreo sintético de la clase sí (T3_2)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4435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T3_1. Se toman al azar 5 255 no para igualar a los 5 255 sí, quedan 10 510 filas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T3_2. Se crean 34 413 sí sintéticos entre cada positivo y uno de sus cinco vecinos más cercanos, quedan 79 336 filas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En T3_2 las indicadoras y education se redondean para no crear clientes con medio oficio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El sobremuestreo se hace antes de partir, así que los sintéticos quedan al lado de sus originales en la validación cruzada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Resultados en Classification Learner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Mejor modelo de cada versión, validación cruzada de 5 particiones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2560320"/>
                <a:gridCol w="1371600"/>
                <a:gridCol w="3017520"/>
                <a:gridCol w="2103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Filas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Mejor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Exactitud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Sí acertados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No acertados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45 211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Narrow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90.6 %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2 632 de 5 289 (49.8 %)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96.0 %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44 923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Boosted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828 de 5 255 (15.8 %)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99.1 %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44 923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Boosted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818 de 5 255 (15.6 %)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99.1 %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10 510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Boosted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71.1 %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2 943 de 5 255 (56.0 %)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84.8 %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79 336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Fine 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90.8 %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38 439 de 39 668 (96.9 %)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84.7 %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Predecir siempre no ya da 88.3 % de exactitud, por eso la exactitud sola dice poco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T0 gana por duration, que es información posterior a la llamada. Sin ella la exactitud baja un punto y el modelo casi deja de acertar los sí</a:t>
            </a:r>
          </a:p>
          <a:p>
            <a:pPr>
              <a:spcAft>
                <a:spcPts val="600"/>
              </a:spcAft>
              <a:defRPr sz="1500">
                <a:latin typeface="Calibri"/>
              </a:defRPr>
            </a:pPr>
            <a:r>
              <a:t>• T1 y T2 dan lo mismo, la codificación y el escalado no cambian el resultado de los árboles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  <a:latin typeface="Calibri"/>
              </a:defRPr>
            </a:pPr>
            <a:r>
              <a:t>Lectura de los resultados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Qué versión conviene usar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T3_1 pierde exactitud global pero pasa de acertar el 16 % de los sí a acertar el 56 %, que es lo que le interesa al banco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T3_2 da el mejor número, 90.8 %, pero lo consigue Fine KNN con un solo vecino, que encuentra al lado de cada sintético el positivo original del que salió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Esa cifra está inflada por hacer el sobremuestreo antes de partir. Para confiar en ella habría que sobremuestrear solo dentro del entrenamiento de cada partición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La versión honesta es T3_1, y la mejora real frente a T2 es de sensibilidad, no de exactitud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Referencias</a:t>
            </a:r>
          </a:p>
          <a:p>
            <a:pPr lvl="1">
              <a:spcAft>
                <a:spcPts val="600"/>
              </a:spcAft>
              <a:defRPr sz="1500">
                <a:latin typeface="Calibri"/>
              </a:defRPr>
            </a:pPr>
            <a:r>
              <a:t>– Moro, S., Cortez, P. y Rita, P. (2014). A data driven approach to predict the success of bank telemarketing. Decision Support Systems, 62, 22 a 31</a:t>
            </a:r>
          </a:p>
          <a:p>
            <a:pPr lvl="1">
              <a:spcAft>
                <a:spcPts val="600"/>
              </a:spcAft>
              <a:defRPr sz="1500">
                <a:latin typeface="Calibri"/>
              </a:defRPr>
            </a:pPr>
            <a:r>
              <a:t>– Tukey, J. W. (1977). Exploratory Data Analysis. Addison Wesley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